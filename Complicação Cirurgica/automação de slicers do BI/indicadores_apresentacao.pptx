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39680" y="1371600"/>
            <a:ext cx="5364347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GERAL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39680" y="2446879"/>
          <a:ext cx="5364344" cy="3571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891"/>
                <a:gridCol w="1571374"/>
                <a:gridCol w="758594"/>
                <a:gridCol w="921150"/>
                <a:gridCol w="975335"/>
              </a:tblGrid>
              <a:tr h="510250"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510250">
                <a:tc>
                  <a:txBody>
                    <a:bodyPr/>
                    <a:lstStyle/>
                    <a:p>
                      <a:pPr algn="l"/>
                      <a:r>
                        <a:rPr sz="102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1.854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456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24.6%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86.7%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0250">
                <a:tc>
                  <a:txBody>
                    <a:bodyPr/>
                    <a:lstStyle/>
                    <a:p>
                      <a:pPr algn="l"/>
                      <a:r>
                        <a:rPr sz="102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285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48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16.8%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510250">
                <a:tc>
                  <a:txBody>
                    <a:bodyPr/>
                    <a:lstStyle/>
                    <a:p>
                      <a:pPr algn="l"/>
                      <a:r>
                        <a:rPr sz="102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24.6%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0250">
                <a:tc>
                  <a:txBody>
                    <a:bodyPr/>
                    <a:lstStyle/>
                    <a:p>
                      <a:pPr algn="l"/>
                      <a:r>
                        <a:rPr sz="1026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0.4%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510250">
                <a:tc>
                  <a:txBody>
                    <a:bodyPr/>
                    <a:lstStyle/>
                    <a:p>
                      <a:pPr algn="l"/>
                      <a:r>
                        <a:rPr sz="1026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42.9%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0.6%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0250">
                <a:tc>
                  <a:txBody>
                    <a:bodyPr/>
                    <a:lstStyle/>
                    <a:p>
                      <a:pPr algn="l"/>
                      <a:r>
                        <a:rPr sz="102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2.225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526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23.6%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SP CAPITAL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1892588"/>
          <a:ext cx="5425303" cy="1547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822"/>
                <a:gridCol w="1589230"/>
                <a:gridCol w="767214"/>
                <a:gridCol w="931618"/>
                <a:gridCol w="986419"/>
              </a:tblGrid>
              <a:tr h="221086">
                <a:tc>
                  <a:txBody>
                    <a:bodyPr/>
                    <a:lstStyle/>
                    <a:p>
                      <a:pPr algn="ctr"/>
                      <a:r>
                        <a:rPr b="1" sz="62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2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2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2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2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21086">
                <a:tc>
                  <a:txBody>
                    <a:bodyPr/>
                    <a:lstStyle/>
                    <a:p>
                      <a:pPr algn="l"/>
                      <a:r>
                        <a:rPr sz="62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359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25.3%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79.8%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1086">
                <a:tc>
                  <a:txBody>
                    <a:bodyPr/>
                    <a:lstStyle/>
                    <a:p>
                      <a:pPr algn="l"/>
                      <a:r>
                        <a:rPr sz="62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77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20.8%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14.0%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1086">
                <a:tc>
                  <a:txBody>
                    <a:bodyPr/>
                    <a:lstStyle/>
                    <a:p>
                      <a:pPr algn="l"/>
                      <a:r>
                        <a:rPr sz="62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37.5%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1086">
                <a:tc>
                  <a:txBody>
                    <a:bodyPr/>
                    <a:lstStyle/>
                    <a:p>
                      <a:pPr algn="l"/>
                      <a:r>
                        <a:rPr sz="626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1086">
                <a:tc>
                  <a:txBody>
                    <a:bodyPr/>
                    <a:lstStyle/>
                    <a:p>
                      <a:pPr algn="l"/>
                      <a:r>
                        <a:rPr sz="626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1086">
                <a:tc>
                  <a:txBody>
                    <a:bodyPr/>
                    <a:lstStyle/>
                    <a:p>
                      <a:pPr algn="l"/>
                      <a:r>
                        <a:rPr sz="62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FFFFFF"/>
                          </a:solidFill>
                        </a:rPr>
                        <a:t>456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FFFFFF"/>
                          </a:solidFill>
                        </a:rPr>
                        <a:t>114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FFFFFF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SP INTERIOR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1892588"/>
          <a:ext cx="5425303" cy="1547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822"/>
                <a:gridCol w="1589230"/>
                <a:gridCol w="767214"/>
                <a:gridCol w="931618"/>
                <a:gridCol w="986419"/>
              </a:tblGrid>
              <a:tr h="221086">
                <a:tc>
                  <a:txBody>
                    <a:bodyPr/>
                    <a:lstStyle/>
                    <a:p>
                      <a:pPr algn="ctr"/>
                      <a:r>
                        <a:rPr b="1" sz="62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2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2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2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2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21086">
                <a:tc>
                  <a:txBody>
                    <a:bodyPr/>
                    <a:lstStyle/>
                    <a:p>
                      <a:pPr algn="l"/>
                      <a:r>
                        <a:rPr sz="62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248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23.8%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81.9%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1086">
                <a:tc>
                  <a:txBody>
                    <a:bodyPr/>
                    <a:lstStyle/>
                    <a:p>
                      <a:pPr algn="l"/>
                      <a:r>
                        <a:rPr sz="62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35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28.6%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13.9%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1086">
                <a:tc>
                  <a:txBody>
                    <a:bodyPr/>
                    <a:lstStyle/>
                    <a:p>
                      <a:pPr algn="l"/>
                      <a:r>
                        <a:rPr sz="62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1086">
                <a:tc>
                  <a:txBody>
                    <a:bodyPr/>
                    <a:lstStyle/>
                    <a:p>
                      <a:pPr algn="l"/>
                      <a:r>
                        <a:rPr sz="626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2.8%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1086">
                <a:tc>
                  <a:txBody>
                    <a:bodyPr/>
                    <a:lstStyle/>
                    <a:p>
                      <a:pPr algn="l"/>
                      <a:r>
                        <a:rPr sz="626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1086">
                <a:tc>
                  <a:txBody>
                    <a:bodyPr/>
                    <a:lstStyle/>
                    <a:p>
                      <a:pPr algn="l"/>
                      <a:r>
                        <a:rPr sz="62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FFFFFF"/>
                          </a:solidFill>
                        </a:rPr>
                        <a:t>298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FFFFFF"/>
                          </a:solidFill>
                        </a:rPr>
                        <a:t>72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FFFFFF"/>
                          </a:solidFill>
                        </a:rPr>
                        <a:t>24.2%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87667" y="384048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CE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87667" y="4361468"/>
          <a:ext cx="5425302" cy="154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9520"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92.5%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11.1%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5.0%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216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40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18.5%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78722" y="384048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AM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78722" y="4361468"/>
          <a:ext cx="5425302" cy="154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9520"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31.5%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94.4%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14.3%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173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54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31.2%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1892588"/>
          <a:ext cx="5425302" cy="154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9520"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88.0%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12.0%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12.0%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141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17.7%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GO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1892588"/>
          <a:ext cx="5425302" cy="154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9520"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19.3%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69.6%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13.8%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17.4%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42.9%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119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19.3%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87667" y="384048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MG CAPITAL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87667" y="4361468"/>
          <a:ext cx="5425303" cy="1547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822"/>
                <a:gridCol w="1589230"/>
                <a:gridCol w="767214"/>
                <a:gridCol w="931618"/>
                <a:gridCol w="986419"/>
              </a:tblGrid>
              <a:tr h="221086">
                <a:tc>
                  <a:txBody>
                    <a:bodyPr/>
                    <a:lstStyle/>
                    <a:p>
                      <a:pPr algn="ctr"/>
                      <a:r>
                        <a:rPr b="1" sz="62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2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2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2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2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21086">
                <a:tc>
                  <a:txBody>
                    <a:bodyPr/>
                    <a:lstStyle/>
                    <a:p>
                      <a:pPr algn="l"/>
                      <a:r>
                        <a:rPr sz="62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23.7%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90.0%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1086">
                <a:tc>
                  <a:txBody>
                    <a:bodyPr/>
                    <a:lstStyle/>
                    <a:p>
                      <a:pPr algn="l"/>
                      <a:r>
                        <a:rPr sz="62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6.9%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1086">
                <a:tc>
                  <a:txBody>
                    <a:bodyPr/>
                    <a:lstStyle/>
                    <a:p>
                      <a:pPr algn="l"/>
                      <a:r>
                        <a:rPr sz="626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1086">
                <a:tc>
                  <a:txBody>
                    <a:bodyPr/>
                    <a:lstStyle/>
                    <a:p>
                      <a:pPr algn="l"/>
                      <a:r>
                        <a:rPr sz="62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1086">
                <a:tc>
                  <a:txBody>
                    <a:bodyPr/>
                    <a:lstStyle/>
                    <a:p>
                      <a:pPr algn="l"/>
                      <a:r>
                        <a:rPr sz="626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1086">
                <a:tc>
                  <a:txBody>
                    <a:bodyPr/>
                    <a:lstStyle/>
                    <a:p>
                      <a:pPr algn="l"/>
                      <a:r>
                        <a:rPr sz="62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FFFFFF"/>
                          </a:solidFill>
                        </a:rPr>
                        <a:t>113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FFFFFF"/>
                          </a:solidFill>
                        </a:rPr>
                        <a:t>17.7%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78722" y="384048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BA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78722" y="4361468"/>
          <a:ext cx="5425302" cy="154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9520"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20.2%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106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18.9%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RJ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1892588"/>
          <a:ext cx="5425302" cy="154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9520"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27.6%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96.0%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4.0%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89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28.1%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1892588"/>
          <a:ext cx="5425302" cy="1547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5589"/>
                <a:gridCol w="1710150"/>
                <a:gridCol w="825589"/>
                <a:gridCol w="1002502"/>
                <a:gridCol w="1061472"/>
              </a:tblGrid>
              <a:tr h="515868"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515868">
                <a:tc>
                  <a:txBody>
                    <a:bodyPr/>
                    <a:lstStyle/>
                    <a:p>
                      <a:pPr algn="l"/>
                      <a:r>
                        <a:rPr sz="102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22.8%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868">
                <a:tc>
                  <a:txBody>
                    <a:bodyPr/>
                    <a:lstStyle/>
                    <a:p>
                      <a:pPr algn="l"/>
                      <a:r>
                        <a:rPr sz="102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79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22.8%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87667" y="384048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PA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87667" y="4361468"/>
          <a:ext cx="5425302" cy="1547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86901"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86901">
                <a:tc>
                  <a:txBody>
                    <a:bodyPr/>
                    <a:lstStyle/>
                    <a:p>
                      <a:pPr algn="l"/>
                      <a:r>
                        <a:rPr sz="102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27.4%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90.9%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901">
                <a:tc>
                  <a:txBody>
                    <a:bodyPr/>
                    <a:lstStyle/>
                    <a:p>
                      <a:pPr algn="l"/>
                      <a:r>
                        <a:rPr sz="102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40.0%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86901">
                <a:tc>
                  <a:txBody>
                    <a:bodyPr/>
                    <a:lstStyle/>
                    <a:p>
                      <a:pPr algn="l"/>
                      <a:r>
                        <a:rPr sz="102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78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28.2%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78722" y="384048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PR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78722" y="4361468"/>
          <a:ext cx="5425302" cy="1547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257934">
                <a:tc>
                  <a:txBody>
                    <a:bodyPr/>
                    <a:lstStyle/>
                    <a:p>
                      <a:pPr algn="ctr"/>
                      <a:r>
                        <a:rPr b="1" sz="731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31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31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31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31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57934">
                <a:tc>
                  <a:txBody>
                    <a:bodyPr/>
                    <a:lstStyle/>
                    <a:p>
                      <a:pPr algn="l"/>
                      <a:r>
                        <a:rPr sz="731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1" b="1">
                          <a:solidFill>
                            <a:srgbClr val="000000"/>
                          </a:solidFill>
                        </a:rPr>
                        <a:t>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1" b="1">
                          <a:solidFill>
                            <a:srgbClr val="000000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1" b="1">
                          <a:solidFill>
                            <a:srgbClr val="000000"/>
                          </a:solidFill>
                        </a:rPr>
                        <a:t>39.6%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1" b="1">
                          <a:solidFill>
                            <a:srgbClr val="000000"/>
                          </a:solidFill>
                        </a:rPr>
                        <a:t>95.5%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7934">
                <a:tc>
                  <a:txBody>
                    <a:bodyPr/>
                    <a:lstStyle/>
                    <a:p>
                      <a:pPr algn="l"/>
                      <a:r>
                        <a:rPr sz="731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1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1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57934">
                <a:tc>
                  <a:txBody>
                    <a:bodyPr/>
                    <a:lstStyle/>
                    <a:p>
                      <a:pPr algn="l"/>
                      <a:r>
                        <a:rPr sz="731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1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1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1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1" b="1">
                          <a:solidFill>
                            <a:srgbClr val="000000"/>
                          </a:solidFill>
                        </a:rPr>
                        <a:t>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7934">
                <a:tc>
                  <a:txBody>
                    <a:bodyPr/>
                    <a:lstStyle/>
                    <a:p>
                      <a:pPr algn="l"/>
                      <a:r>
                        <a:rPr sz="731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1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1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57934">
                <a:tc>
                  <a:txBody>
                    <a:bodyPr/>
                    <a:lstStyle/>
                    <a:p>
                      <a:pPr algn="l"/>
                      <a:r>
                        <a:rPr sz="731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1" b="1">
                          <a:solidFill>
                            <a:srgbClr val="FFFFFF"/>
                          </a:solidFill>
                        </a:rPr>
                        <a:t>69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1" b="1">
                          <a:solidFill>
                            <a:srgbClr val="FFFFFF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1" b="1">
                          <a:solidFill>
                            <a:srgbClr val="FFFFFF"/>
                          </a:solidFill>
                        </a:rPr>
                        <a:t>31.9%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1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SC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1892588"/>
          <a:ext cx="5425302" cy="1547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86901"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86901">
                <a:tc>
                  <a:txBody>
                    <a:bodyPr/>
                    <a:lstStyle/>
                    <a:p>
                      <a:pPr algn="l"/>
                      <a:r>
                        <a:rPr sz="102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36.8%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82.4%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901">
                <a:tc>
                  <a:txBody>
                    <a:bodyPr/>
                    <a:lstStyle/>
                    <a:p>
                      <a:pPr algn="l"/>
                      <a:r>
                        <a:rPr sz="102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30.0%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17.6%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86901">
                <a:tc>
                  <a:txBody>
                    <a:bodyPr/>
                    <a:lstStyle/>
                    <a:p>
                      <a:pPr algn="l"/>
                      <a:r>
                        <a:rPr sz="102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48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35.4%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1892588"/>
          <a:ext cx="5425302" cy="154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9520"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32.1%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81.8%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7.7%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24.4%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87667" y="384048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AL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87667" y="4361468"/>
          <a:ext cx="5425302" cy="154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9520"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29.0%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81.8%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14.3%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39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28.2%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78722" y="384048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DF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78722" y="4361468"/>
          <a:ext cx="5425302" cy="154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9520"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75.0%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23.5%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1892588"/>
          <a:ext cx="5425302" cy="1547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86901"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86901">
                <a:tc>
                  <a:txBody>
                    <a:bodyPr/>
                    <a:lstStyle/>
                    <a:p>
                      <a:pPr algn="l"/>
                      <a:r>
                        <a:rPr sz="102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18.5%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901">
                <a:tc>
                  <a:txBody>
                    <a:bodyPr/>
                    <a:lstStyle/>
                    <a:p>
                      <a:pPr algn="l"/>
                      <a:r>
                        <a:rPr sz="102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86901">
                <a:tc>
                  <a:txBody>
                    <a:bodyPr/>
                    <a:lstStyle/>
                    <a:p>
                      <a:pPr algn="l"/>
                      <a:r>
                        <a:rPr sz="102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17.2%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MG INTERIOR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1892588"/>
          <a:ext cx="5425302" cy="1547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86901"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86901">
                <a:tc>
                  <a:txBody>
                    <a:bodyPr/>
                    <a:lstStyle/>
                    <a:p>
                      <a:pPr algn="l"/>
                      <a:r>
                        <a:rPr sz="102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26.1%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85.7%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901">
                <a:tc>
                  <a:txBody>
                    <a:bodyPr/>
                    <a:lstStyle/>
                    <a:p>
                      <a:pPr algn="l"/>
                      <a:r>
                        <a:rPr sz="102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14.3%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86901">
                <a:tc>
                  <a:txBody>
                    <a:bodyPr/>
                    <a:lstStyle/>
                    <a:p>
                      <a:pPr algn="l"/>
                      <a:r>
                        <a:rPr sz="102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25.9%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87667" y="384048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PB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87667" y="4361468"/>
          <a:ext cx="5425302" cy="154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9520"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17.4%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80.0%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78722" y="384048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78722" y="4361468"/>
          <a:ext cx="5425302" cy="1547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86901"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86901">
                <a:tc>
                  <a:txBody>
                    <a:bodyPr/>
                    <a:lstStyle/>
                    <a:p>
                      <a:pPr algn="l"/>
                      <a:r>
                        <a:rPr sz="102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75.0%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901">
                <a:tc>
                  <a:txBody>
                    <a:bodyPr/>
                    <a:lstStyle/>
                    <a:p>
                      <a:pPr algn="l"/>
                      <a:r>
                        <a:rPr sz="102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86901">
                <a:tc>
                  <a:txBody>
                    <a:bodyPr/>
                    <a:lstStyle/>
                    <a:p>
                      <a:pPr algn="l"/>
                      <a:r>
                        <a:rPr sz="102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18.2%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SINAIS DE COMPLICAÇÃO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1892588"/>
          <a:ext cx="5425302" cy="1547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5589"/>
                <a:gridCol w="1710150"/>
                <a:gridCol w="825589"/>
                <a:gridCol w="1002502"/>
                <a:gridCol w="1061472"/>
              </a:tblGrid>
              <a:tr h="515868"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515868">
                <a:tc>
                  <a:txBody>
                    <a:bodyPr/>
                    <a:lstStyle/>
                    <a:p>
                      <a:pPr algn="l"/>
                      <a:r>
                        <a:rPr sz="102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15.8%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868">
                <a:tc>
                  <a:txBody>
                    <a:bodyPr/>
                    <a:lstStyle/>
                    <a:p>
                      <a:pPr algn="l"/>
                      <a:r>
                        <a:rPr sz="102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15.8%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39680" y="1371600"/>
            <a:ext cx="5364347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GERAL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39680" y="2446879"/>
          <a:ext cx="5364344" cy="3571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891"/>
                <a:gridCol w="1571374"/>
                <a:gridCol w="758594"/>
                <a:gridCol w="921150"/>
                <a:gridCol w="975335"/>
              </a:tblGrid>
              <a:tr h="510250"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510250">
                <a:tc>
                  <a:txBody>
                    <a:bodyPr/>
                    <a:lstStyle/>
                    <a:p>
                      <a:pPr algn="l"/>
                      <a:r>
                        <a:rPr sz="102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1.854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10.5%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89.0%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0250">
                <a:tc>
                  <a:txBody>
                    <a:bodyPr/>
                    <a:lstStyle/>
                    <a:p>
                      <a:pPr algn="l"/>
                      <a:r>
                        <a:rPr sz="102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285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7.0%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510250">
                <a:tc>
                  <a:txBody>
                    <a:bodyPr/>
                    <a:lstStyle/>
                    <a:p>
                      <a:pPr algn="l"/>
                      <a:r>
                        <a:rPr sz="102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0250">
                <a:tc>
                  <a:txBody>
                    <a:bodyPr/>
                    <a:lstStyle/>
                    <a:p>
                      <a:pPr algn="l"/>
                      <a:r>
                        <a:rPr sz="1026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510250">
                <a:tc>
                  <a:txBody>
                    <a:bodyPr/>
                    <a:lstStyle/>
                    <a:p>
                      <a:pPr algn="l"/>
                      <a:r>
                        <a:rPr sz="1026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0250">
                <a:tc>
                  <a:txBody>
                    <a:bodyPr/>
                    <a:lstStyle/>
                    <a:p>
                      <a:pPr algn="l"/>
                      <a:r>
                        <a:rPr sz="102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2.225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219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9.8%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SP CAPITAL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1892588"/>
          <a:ext cx="5425303" cy="1547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822"/>
                <a:gridCol w="1589230"/>
                <a:gridCol w="767214"/>
                <a:gridCol w="931618"/>
                <a:gridCol w="986419"/>
              </a:tblGrid>
              <a:tr h="221086">
                <a:tc>
                  <a:txBody>
                    <a:bodyPr/>
                    <a:lstStyle/>
                    <a:p>
                      <a:pPr algn="ctr"/>
                      <a:r>
                        <a:rPr b="1" sz="62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2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2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2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2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21086">
                <a:tc>
                  <a:txBody>
                    <a:bodyPr/>
                    <a:lstStyle/>
                    <a:p>
                      <a:pPr algn="l"/>
                      <a:r>
                        <a:rPr sz="62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359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12.3%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97.8%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1086">
                <a:tc>
                  <a:txBody>
                    <a:bodyPr/>
                    <a:lstStyle/>
                    <a:p>
                      <a:pPr algn="l"/>
                      <a:r>
                        <a:rPr sz="62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77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1.3%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1086">
                <a:tc>
                  <a:txBody>
                    <a:bodyPr/>
                    <a:lstStyle/>
                    <a:p>
                      <a:pPr algn="l"/>
                      <a:r>
                        <a:rPr sz="62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1086">
                <a:tc>
                  <a:txBody>
                    <a:bodyPr/>
                    <a:lstStyle/>
                    <a:p>
                      <a:pPr algn="l"/>
                      <a:r>
                        <a:rPr sz="626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1086">
                <a:tc>
                  <a:txBody>
                    <a:bodyPr/>
                    <a:lstStyle/>
                    <a:p>
                      <a:pPr algn="l"/>
                      <a:r>
                        <a:rPr sz="626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1086">
                <a:tc>
                  <a:txBody>
                    <a:bodyPr/>
                    <a:lstStyle/>
                    <a:p>
                      <a:pPr algn="l"/>
                      <a:r>
                        <a:rPr sz="62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FFFFFF"/>
                          </a:solidFill>
                        </a:rPr>
                        <a:t>456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FFFFFF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FFFFFF"/>
                          </a:solidFill>
                        </a:rPr>
                        <a:t>9.9%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SP INTERIOR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1892588"/>
          <a:ext cx="5425303" cy="1547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822"/>
                <a:gridCol w="1589230"/>
                <a:gridCol w="767214"/>
                <a:gridCol w="931618"/>
                <a:gridCol w="986419"/>
              </a:tblGrid>
              <a:tr h="221086">
                <a:tc>
                  <a:txBody>
                    <a:bodyPr/>
                    <a:lstStyle/>
                    <a:p>
                      <a:pPr algn="ctr"/>
                      <a:r>
                        <a:rPr b="1" sz="62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2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2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2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2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21086">
                <a:tc>
                  <a:txBody>
                    <a:bodyPr/>
                    <a:lstStyle/>
                    <a:p>
                      <a:pPr algn="l"/>
                      <a:r>
                        <a:rPr sz="62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248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12.1%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85.7%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1086">
                <a:tc>
                  <a:txBody>
                    <a:bodyPr/>
                    <a:lstStyle/>
                    <a:p>
                      <a:pPr algn="l"/>
                      <a:r>
                        <a:rPr sz="62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35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8.6%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8.6%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1086">
                <a:tc>
                  <a:txBody>
                    <a:bodyPr/>
                    <a:lstStyle/>
                    <a:p>
                      <a:pPr algn="l"/>
                      <a:r>
                        <a:rPr sz="62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18.2%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1086">
                <a:tc>
                  <a:txBody>
                    <a:bodyPr/>
                    <a:lstStyle/>
                    <a:p>
                      <a:pPr algn="l"/>
                      <a:r>
                        <a:rPr sz="626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1086">
                <a:tc>
                  <a:txBody>
                    <a:bodyPr/>
                    <a:lstStyle/>
                    <a:p>
                      <a:pPr algn="l"/>
                      <a:r>
                        <a:rPr sz="626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1086">
                <a:tc>
                  <a:txBody>
                    <a:bodyPr/>
                    <a:lstStyle/>
                    <a:p>
                      <a:pPr algn="l"/>
                      <a:r>
                        <a:rPr sz="62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FFFFFF"/>
                          </a:solidFill>
                        </a:rPr>
                        <a:t>298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FFFFFF"/>
                          </a:solidFill>
                        </a:rPr>
                        <a:t>35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FFFFFF"/>
                          </a:solidFill>
                        </a:rPr>
                        <a:t>11.7%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87667" y="384048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CE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87667" y="4361468"/>
          <a:ext cx="5425302" cy="154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9520"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91.3%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5.6%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4.3%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216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10.6%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78722" y="384048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AM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78722" y="4361468"/>
          <a:ext cx="5425302" cy="154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9520"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81.8%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14.3%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25.0%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173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6.4%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1892588"/>
          <a:ext cx="5425302" cy="154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9520"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7.0%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80.0%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8.0%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141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7.1%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GO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1892588"/>
          <a:ext cx="5425302" cy="154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9520"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80.0%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6.9%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119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8.4%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87667" y="384048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MG CAPITAL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87667" y="4361468"/>
          <a:ext cx="5425303" cy="1547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0822"/>
                <a:gridCol w="1589230"/>
                <a:gridCol w="767214"/>
                <a:gridCol w="931618"/>
                <a:gridCol w="986419"/>
              </a:tblGrid>
              <a:tr h="221086">
                <a:tc>
                  <a:txBody>
                    <a:bodyPr/>
                    <a:lstStyle/>
                    <a:p>
                      <a:pPr algn="ctr"/>
                      <a:r>
                        <a:rPr b="1" sz="62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2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2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2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62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21086">
                <a:tc>
                  <a:txBody>
                    <a:bodyPr/>
                    <a:lstStyle/>
                    <a:p>
                      <a:pPr algn="l"/>
                      <a:r>
                        <a:rPr sz="62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1086">
                <a:tc>
                  <a:txBody>
                    <a:bodyPr/>
                    <a:lstStyle/>
                    <a:p>
                      <a:pPr algn="l"/>
                      <a:r>
                        <a:rPr sz="62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13.8%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1086">
                <a:tc>
                  <a:txBody>
                    <a:bodyPr/>
                    <a:lstStyle/>
                    <a:p>
                      <a:pPr algn="l"/>
                      <a:r>
                        <a:rPr sz="626" b="1">
                          <a:solidFill>
                            <a:srgbClr val="FFFFFF"/>
                          </a:solidFill>
                        </a:rPr>
                        <a:t>CIRURGIA GINECOLOGICA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1086">
                <a:tc>
                  <a:txBody>
                    <a:bodyPr/>
                    <a:lstStyle/>
                    <a:p>
                      <a:pPr algn="l"/>
                      <a:r>
                        <a:rPr sz="626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21086">
                <a:tc>
                  <a:txBody>
                    <a:bodyPr/>
                    <a:lstStyle/>
                    <a:p>
                      <a:pPr algn="l"/>
                      <a:r>
                        <a:rPr sz="626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1086">
                <a:tc>
                  <a:txBody>
                    <a:bodyPr/>
                    <a:lstStyle/>
                    <a:p>
                      <a:pPr algn="l"/>
                      <a:r>
                        <a:rPr sz="62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FFFFFF"/>
                          </a:solidFill>
                        </a:rPr>
                        <a:t>113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FFFFFF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FFFFFF"/>
                          </a:solidFill>
                        </a:rPr>
                        <a:t>7.1%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2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78722" y="384048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BA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78722" y="4361468"/>
          <a:ext cx="5425302" cy="154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9520"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106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6.6%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RJ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1892588"/>
          <a:ext cx="5425302" cy="154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9520"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89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11.2%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1892588"/>
          <a:ext cx="5425302" cy="1547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5589"/>
                <a:gridCol w="1710150"/>
                <a:gridCol w="825589"/>
                <a:gridCol w="1002502"/>
                <a:gridCol w="1061472"/>
              </a:tblGrid>
              <a:tr h="515868"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515868">
                <a:tc>
                  <a:txBody>
                    <a:bodyPr/>
                    <a:lstStyle/>
                    <a:p>
                      <a:pPr algn="l"/>
                      <a:r>
                        <a:rPr sz="102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12.7%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868">
                <a:tc>
                  <a:txBody>
                    <a:bodyPr/>
                    <a:lstStyle/>
                    <a:p>
                      <a:pPr algn="l"/>
                      <a:r>
                        <a:rPr sz="102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79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12.7%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87667" y="384048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PA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87667" y="4361468"/>
          <a:ext cx="5425302" cy="1547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86901"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86901">
                <a:tc>
                  <a:txBody>
                    <a:bodyPr/>
                    <a:lstStyle/>
                    <a:p>
                      <a:pPr algn="l"/>
                      <a:r>
                        <a:rPr sz="102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12.3%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901">
                <a:tc>
                  <a:txBody>
                    <a:bodyPr/>
                    <a:lstStyle/>
                    <a:p>
                      <a:pPr algn="l"/>
                      <a:r>
                        <a:rPr sz="102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86901">
                <a:tc>
                  <a:txBody>
                    <a:bodyPr/>
                    <a:lstStyle/>
                    <a:p>
                      <a:pPr algn="l"/>
                      <a:r>
                        <a:rPr sz="102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78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11.5%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78722" y="384048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PR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78722" y="4361468"/>
          <a:ext cx="5425302" cy="1547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257934">
                <a:tc>
                  <a:txBody>
                    <a:bodyPr/>
                    <a:lstStyle/>
                    <a:p>
                      <a:pPr algn="ctr"/>
                      <a:r>
                        <a:rPr b="1" sz="731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31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31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31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731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257934">
                <a:tc>
                  <a:txBody>
                    <a:bodyPr/>
                    <a:lstStyle/>
                    <a:p>
                      <a:pPr algn="l"/>
                      <a:r>
                        <a:rPr sz="731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1" b="1">
                          <a:solidFill>
                            <a:srgbClr val="000000"/>
                          </a:solidFill>
                        </a:rPr>
                        <a:t>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1" b="1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1" b="1">
                          <a:solidFill>
                            <a:srgbClr val="000000"/>
                          </a:solidFill>
                        </a:rPr>
                        <a:t>17.0%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1" b="1">
                          <a:solidFill>
                            <a:srgbClr val="000000"/>
                          </a:solidFill>
                        </a:rPr>
                        <a:t>90.0%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7934">
                <a:tc>
                  <a:txBody>
                    <a:bodyPr/>
                    <a:lstStyle/>
                    <a:p>
                      <a:pPr algn="l"/>
                      <a:r>
                        <a:rPr sz="731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1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1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1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1" b="1">
                          <a:solidFill>
                            <a:srgbClr val="000000"/>
                          </a:solidFill>
                        </a:rPr>
                        <a:t>10.0%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57934">
                <a:tc>
                  <a:txBody>
                    <a:bodyPr/>
                    <a:lstStyle/>
                    <a:p>
                      <a:pPr algn="l"/>
                      <a:r>
                        <a:rPr sz="731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1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1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7934">
                <a:tc>
                  <a:txBody>
                    <a:bodyPr/>
                    <a:lstStyle/>
                    <a:p>
                      <a:pPr algn="l"/>
                      <a:r>
                        <a:rPr sz="731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1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1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1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257934">
                <a:tc>
                  <a:txBody>
                    <a:bodyPr/>
                    <a:lstStyle/>
                    <a:p>
                      <a:pPr algn="l"/>
                      <a:r>
                        <a:rPr sz="731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1" b="1">
                          <a:solidFill>
                            <a:srgbClr val="FFFFFF"/>
                          </a:solidFill>
                        </a:rPr>
                        <a:t>69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1" b="1">
                          <a:solidFill>
                            <a:srgbClr val="FFFFFF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1" b="1">
                          <a:solidFill>
                            <a:srgbClr val="FFFFFF"/>
                          </a:solidFill>
                        </a:rPr>
                        <a:t>14.5%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31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SC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1892588"/>
          <a:ext cx="5425302" cy="1547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86901"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86901">
                <a:tc>
                  <a:txBody>
                    <a:bodyPr/>
                    <a:lstStyle/>
                    <a:p>
                      <a:pPr algn="l"/>
                      <a:r>
                        <a:rPr sz="102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13.2%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71.4%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901">
                <a:tc>
                  <a:txBody>
                    <a:bodyPr/>
                    <a:lstStyle/>
                    <a:p>
                      <a:pPr algn="l"/>
                      <a:r>
                        <a:rPr sz="102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28.6%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86901">
                <a:tc>
                  <a:txBody>
                    <a:bodyPr/>
                    <a:lstStyle/>
                    <a:p>
                      <a:pPr algn="l"/>
                      <a:r>
                        <a:rPr sz="102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48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14.6%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RS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1892588"/>
          <a:ext cx="5425302" cy="154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9520"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66.7%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7.7%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33.3%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6.7%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87667" y="384048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AL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87667" y="4361468"/>
          <a:ext cx="5425302" cy="154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9520"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UROLOGIA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39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5.1%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78722" y="384048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DF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78722" y="4361468"/>
          <a:ext cx="5425302" cy="154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9520"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34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5.9%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MA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1892588"/>
          <a:ext cx="5425302" cy="1547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86901"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86901">
                <a:tc>
                  <a:txBody>
                    <a:bodyPr/>
                    <a:lstStyle/>
                    <a:p>
                      <a:pPr algn="l"/>
                      <a:r>
                        <a:rPr sz="102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18.5%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83.3%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901">
                <a:tc>
                  <a:txBody>
                    <a:bodyPr/>
                    <a:lstStyle/>
                    <a:p>
                      <a:pPr algn="l"/>
                      <a:r>
                        <a:rPr sz="102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16.7%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86901">
                <a:tc>
                  <a:txBody>
                    <a:bodyPr/>
                    <a:lstStyle/>
                    <a:p>
                      <a:pPr algn="l"/>
                      <a:r>
                        <a:rPr sz="102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20.7%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2" y="137160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MG INTERIOR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78722" y="1892588"/>
          <a:ext cx="5425302" cy="1547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86901"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86901">
                <a:tc>
                  <a:txBody>
                    <a:bodyPr/>
                    <a:lstStyle/>
                    <a:p>
                      <a:pPr algn="l"/>
                      <a:r>
                        <a:rPr sz="102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17.4%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901">
                <a:tc>
                  <a:txBody>
                    <a:bodyPr/>
                    <a:lstStyle/>
                    <a:p>
                      <a:pPr algn="l"/>
                      <a:r>
                        <a:rPr sz="102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86901">
                <a:tc>
                  <a:txBody>
                    <a:bodyPr/>
                    <a:lstStyle/>
                    <a:p>
                      <a:pPr algn="l"/>
                      <a:r>
                        <a:rPr sz="102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27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14.8%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87667" y="384048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PB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87667" y="4361468"/>
          <a:ext cx="5425302" cy="154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09520"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77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21.7%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CIRURGIA ONCOLOGICA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9520">
                <a:tc>
                  <a:txBody>
                    <a:bodyPr/>
                    <a:lstStyle/>
                    <a:p>
                      <a:pPr algn="l"/>
                      <a:r>
                        <a:rPr sz="877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20.0%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77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78722" y="384048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SE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78722" y="4361468"/>
          <a:ext cx="5425302" cy="1547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88"/>
                <a:gridCol w="1621998"/>
                <a:gridCol w="783033"/>
                <a:gridCol w="950826"/>
                <a:gridCol w="1006757"/>
              </a:tblGrid>
              <a:tr h="386901"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386901">
                <a:tc>
                  <a:txBody>
                    <a:bodyPr/>
                    <a:lstStyle/>
                    <a:p>
                      <a:pPr algn="l"/>
                      <a:r>
                        <a:rPr sz="102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6901">
                <a:tc>
                  <a:txBody>
                    <a:bodyPr/>
                    <a:lstStyle/>
                    <a:p>
                      <a:pPr algn="l"/>
                      <a:r>
                        <a:rPr sz="1026" b="1">
                          <a:solidFill>
                            <a:srgbClr val="FFFFFF"/>
                          </a:solidFill>
                        </a:rPr>
                        <a:t>CIRURGIA BARIATRICA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386901">
                <a:tc>
                  <a:txBody>
                    <a:bodyPr/>
                    <a:lstStyle/>
                    <a:p>
                      <a:pPr algn="l"/>
                      <a:r>
                        <a:rPr sz="102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22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4.5%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00" y="109728"/>
            <a:ext cx="9143771" cy="1152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0" sz="2400">
                <a:solidFill>
                  <a:srgbClr val="203864"/>
                </a:solidFill>
                <a:latin typeface="Calibri Light"/>
              </a:rPr>
              <a:t>ORIENTAÇÕES DO CUIDADO PÓS CIRURGICO | RESULTADO POR ESTADO</a:t>
            </a:r>
          </a:p>
        </p:txBody>
      </p:sp>
      <p:pic>
        <p:nvPicPr>
          <p:cNvPr id="3" name="Picture 2" descr="inici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" y="274320"/>
            <a:ext cx="146300" cy="822960"/>
          </a:xfrm>
          <a:prstGeom prst="rect">
            <a:avLst/>
          </a:prstGeom>
        </p:spPr>
      </p:pic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319" y="164592"/>
            <a:ext cx="548626" cy="503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67" y="1371600"/>
            <a:ext cx="5425305" cy="3511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188">
                <a:solidFill>
                  <a:srgbClr val="1F3864"/>
                </a:solidFill>
              </a:rPr>
              <a:t>PI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87667" y="1892588"/>
          <a:ext cx="5425302" cy="1547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5589"/>
                <a:gridCol w="1710150"/>
                <a:gridCol w="825589"/>
                <a:gridCol w="1002502"/>
                <a:gridCol w="1061472"/>
              </a:tblGrid>
              <a:tr h="515868"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ESPECIALISTA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TOTAL DE CIRURGIAS REALIZADAS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Nº BENEF "SIM"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PROPORCIONALIDADE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26">
                          <a:solidFill>
                            <a:srgbClr val="FFFFFF"/>
                          </a:solidFill>
                        </a:rPr>
                        <a:t>REPRESENTATIVIDADE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  <a:tr h="515868">
                <a:tc>
                  <a:txBody>
                    <a:bodyPr/>
                    <a:lstStyle/>
                    <a:p>
                      <a:pPr algn="l"/>
                      <a:r>
                        <a:rPr sz="1026" b="1">
                          <a:solidFill>
                            <a:srgbClr val="FFFFFF"/>
                          </a:solidFill>
                        </a:rPr>
                        <a:t>CIRURGIA GERAL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000000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868">
                <a:tc>
                  <a:txBody>
                    <a:bodyPr/>
                    <a:lstStyle/>
                    <a:p>
                      <a:pPr algn="l"/>
                      <a:r>
                        <a:rPr sz="1026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5.3%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26" b="1">
                          <a:solidFill>
                            <a:srgbClr val="FFFFFF"/>
                          </a:solidFill>
                        </a:rPr>
                        <a:t>100.0%</a:t>
                      </a:r>
                    </a:p>
                  </a:txBody>
                  <a:tcPr>
                    <a:solidFill>
                      <a:srgbClr val="2652B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